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413fbd4e2479b" /><Relationship Type="http://schemas.openxmlformats.org/officeDocument/2006/relationships/extended-properties" Target="/docProps/app.xml" Id="Re62ab3d383af4b8d" /><Relationship Type="http://schemas.openxmlformats.org/officeDocument/2006/relationships/officeDocument" Target="/ppt/presentation.xml" Id="R5a65bd1ca95b42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bc41a5c93f4b98"/>
  </p:sldMasterIdLst>
  <p:notesMasterIdLst>
    <p:notesMasterId xmlns:r="http://schemas.openxmlformats.org/officeDocument/2006/relationships" r:id="R9e06776c4e694ef9"/>
  </p:notesMasterIdLst>
  <p:sldIdLst>
    <p:sldId xmlns:r="http://schemas.openxmlformats.org/officeDocument/2006/relationships" id="256" r:id="R18ecffd38c0f4676"/>
    <p:sldId xmlns:r="http://schemas.openxmlformats.org/officeDocument/2006/relationships" id="257" r:id="R60604d9722424e47"/>
    <p:sldId xmlns:r="http://schemas.openxmlformats.org/officeDocument/2006/relationships" id="258" r:id="R0eb8eec25f1a4d97"/>
    <p:sldId xmlns:r="http://schemas.openxmlformats.org/officeDocument/2006/relationships" id="259" r:id="R8921e0cd1c274c28"/>
    <p:sldId xmlns:r="http://schemas.openxmlformats.org/officeDocument/2006/relationships" id="260" r:id="R34ae5f821d5f4493"/>
    <p:sldId xmlns:r="http://schemas.openxmlformats.org/officeDocument/2006/relationships" id="261" r:id="Rc5e504d550c64522"/>
    <p:sldId xmlns:r="http://schemas.openxmlformats.org/officeDocument/2006/relationships" id="262" r:id="R073370dd21fe4ce3"/>
    <p:sldId xmlns:r="http://schemas.openxmlformats.org/officeDocument/2006/relationships" id="263" r:id="R0cec7ef9848147f0"/>
    <p:sldId xmlns:r="http://schemas.openxmlformats.org/officeDocument/2006/relationships" id="264" r:id="Rccbcf5a431b4461e"/>
    <p:sldId xmlns:r="http://schemas.openxmlformats.org/officeDocument/2006/relationships" id="265" r:id="R8d61a1fb03b24bfd"/>
    <p:sldId xmlns:r="http://schemas.openxmlformats.org/officeDocument/2006/relationships" id="266" r:id="Rb5ed30739cec47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37005c17d43b7" /><Relationship Type="http://schemas.openxmlformats.org/officeDocument/2006/relationships/slideMaster" Target="/ppt/slideMasters/slideMaster1.xml" Id="Rc9bc41a5c93f4b98" /><Relationship Type="http://schemas.openxmlformats.org/officeDocument/2006/relationships/notesMaster" Target="/ppt/notesMasters/notesMaster1.xml" Id="R9e06776c4e694ef9" /><Relationship Type="http://schemas.openxmlformats.org/officeDocument/2006/relationships/presProps" Target="/ppt/presProps.xml" Id="R470c89a9dfe943a8" /><Relationship Type="http://schemas.openxmlformats.org/officeDocument/2006/relationships/viewProps" Target="/ppt/viewProps.xml" Id="R16ce65e26870499a" /><Relationship Type="http://schemas.openxmlformats.org/officeDocument/2006/relationships/tableStyles" Target="/ppt/tableStyles.xml" Id="R223c1418d9ac435b" /><Relationship Type="http://schemas.openxmlformats.org/officeDocument/2006/relationships/slide" Target="/ppt/slides/slide1.xml" Id="R18ecffd38c0f4676" /><Relationship Type="http://schemas.openxmlformats.org/officeDocument/2006/relationships/slide" Target="/ppt/slides/slide2.xml" Id="R60604d9722424e47" /><Relationship Type="http://schemas.openxmlformats.org/officeDocument/2006/relationships/slide" Target="/ppt/slides/slide3.xml" Id="R0eb8eec25f1a4d97" /><Relationship Type="http://schemas.openxmlformats.org/officeDocument/2006/relationships/slide" Target="/ppt/slides/slide4.xml" Id="R8921e0cd1c274c28" /><Relationship Type="http://schemas.openxmlformats.org/officeDocument/2006/relationships/slide" Target="/ppt/slides/slide5.xml" Id="R34ae5f821d5f4493" /><Relationship Type="http://schemas.openxmlformats.org/officeDocument/2006/relationships/slide" Target="/ppt/slides/slide6.xml" Id="Rc5e504d550c64522" /><Relationship Type="http://schemas.openxmlformats.org/officeDocument/2006/relationships/slide" Target="/ppt/slides/slide7.xml" Id="R073370dd21fe4ce3" /><Relationship Type="http://schemas.openxmlformats.org/officeDocument/2006/relationships/slide" Target="/ppt/slides/slide8.xml" Id="R0cec7ef9848147f0" /><Relationship Type="http://schemas.openxmlformats.org/officeDocument/2006/relationships/slide" Target="/ppt/slides/slide9.xml" Id="Rccbcf5a431b4461e" /><Relationship Type="http://schemas.openxmlformats.org/officeDocument/2006/relationships/slide" Target="/ppt/slides/slide10.xml" Id="R8d61a1fb03b24bfd" /><Relationship Type="http://schemas.openxmlformats.org/officeDocument/2006/relationships/slide" Target="/ppt/slides/slide11.xml" Id="Rb5ed30739cec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d5615708c44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5c134167d4206" /><Relationship Type="http://schemas.openxmlformats.org/officeDocument/2006/relationships/notesMaster" Target="/ppt/notesMasters/notesMaster1.xml" Id="R7810e8ab2254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1cbb96e584aa0" /><Relationship Type="http://schemas.openxmlformats.org/officeDocument/2006/relationships/notesMaster" Target="/ppt/notesMasters/notesMaster1.xml" Id="R049c328406d5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4cca658c994b0a" /><Relationship Type="http://schemas.openxmlformats.org/officeDocument/2006/relationships/notesMaster" Target="/ppt/notesMasters/notesMaster1.xml" Id="Re03b0574ceb6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33bd70379403f" /><Relationship Type="http://schemas.openxmlformats.org/officeDocument/2006/relationships/notesMaster" Target="/ppt/notesMasters/notesMaster1.xml" Id="Ra8061b5669cf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98f985dc04193" /><Relationship Type="http://schemas.openxmlformats.org/officeDocument/2006/relationships/notesMaster" Target="/ppt/notesMasters/notesMaster1.xml" Id="R9d2cf3de7a0341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1cfcaac66f4958" /><Relationship Type="http://schemas.openxmlformats.org/officeDocument/2006/relationships/notesMaster" Target="/ppt/notesMasters/notesMaster1.xml" Id="Rc70a734c2a2f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91c90cba844db" /><Relationship Type="http://schemas.openxmlformats.org/officeDocument/2006/relationships/notesMaster" Target="/ppt/notesMasters/notesMaster1.xml" Id="R1ff9605d90e94d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781f6298794962" /><Relationship Type="http://schemas.openxmlformats.org/officeDocument/2006/relationships/notesMaster" Target="/ppt/notesMasters/notesMaster1.xml" Id="Rbdb8b28a860b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5ca09b745c4410" /><Relationship Type="http://schemas.openxmlformats.org/officeDocument/2006/relationships/notesMaster" Target="/ppt/notesMasters/notesMaster1.xml" Id="R7bc039e0da5841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8c19a2c9b4461" /><Relationship Type="http://schemas.openxmlformats.org/officeDocument/2006/relationships/notesMaster" Target="/ppt/notesMasters/notesMaster1.xml" Id="R5e7981dc4bb341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8091c6948d41b2" /><Relationship Type="http://schemas.openxmlformats.org/officeDocument/2006/relationships/notesMaster" Target="/ppt/notesMasters/notesMaster1.xml" Id="Rb83e1b00ed02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7692343094f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139a8e23f448d" /><Relationship Type="http://schemas.openxmlformats.org/officeDocument/2006/relationships/slideLayout" Target="/ppt/slideLayouts/slideLayout1.xml" Id="Ra16e10501eb7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6e10501eb7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5e2853f3241c6" /><Relationship Type="http://schemas.openxmlformats.org/officeDocument/2006/relationships/image" Target="/ppt/media/image.png" Id="Reeba6bcfd7964425" /><Relationship Type="http://schemas.openxmlformats.org/officeDocument/2006/relationships/image" Target="/ppt/media/image2.png" Id="R5c3b115a66e34b03" /><Relationship Type="http://schemas.openxmlformats.org/officeDocument/2006/relationships/image" Target="/ppt/media/image3.png" Id="Rfcdaf0c16ed74149" /><Relationship Type="http://schemas.openxmlformats.org/officeDocument/2006/relationships/image" Target="/ppt/media/image4.png" Id="Ra36d42de00114884" /><Relationship Type="http://schemas.openxmlformats.org/officeDocument/2006/relationships/image" Target="/ppt/media/image5.png" Id="R0ec4ca981faa48d1" /><Relationship Type="http://schemas.openxmlformats.org/officeDocument/2006/relationships/notesSlide" Target="/ppt/notesSlides/notesSlide1.xml" Id="R7431859b1a3b4c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238825a545f2" /><Relationship Type="http://schemas.openxmlformats.org/officeDocument/2006/relationships/notesSlide" Target="/ppt/notesSlides/notesSlide2.xml" Id="R7380538cc421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47313183c48db" /><Relationship Type="http://schemas.openxmlformats.org/officeDocument/2006/relationships/image" Target="/ppt/media/image6.png" Id="R1e2417e32b704bce" /><Relationship Type="http://schemas.openxmlformats.org/officeDocument/2006/relationships/image" Target="/ppt/media/image7.png" Id="Raecbb7c762734020" /><Relationship Type="http://schemas.openxmlformats.org/officeDocument/2006/relationships/image" Target="/ppt/media/image8.png" Id="R017090d3e08f4744" /><Relationship Type="http://schemas.openxmlformats.org/officeDocument/2006/relationships/image" Target="/ppt/media/image9.png" Id="R136461e7f0084e5f" /><Relationship Type="http://schemas.openxmlformats.org/officeDocument/2006/relationships/image" Target="/ppt/media/image10.png" Id="Ra0a18982bf05401f" /><Relationship Type="http://schemas.openxmlformats.org/officeDocument/2006/relationships/image" Target="/ppt/media/image11.png" Id="R78634e6592cd4d6d" /><Relationship Type="http://schemas.openxmlformats.org/officeDocument/2006/relationships/notesSlide" Target="/ppt/notesSlides/notesSlide3.xml" Id="R7ba365cab86045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0682c51264ee8" /><Relationship Type="http://schemas.openxmlformats.org/officeDocument/2006/relationships/notesSlide" Target="/ppt/notesSlides/notesSlide4.xml" Id="Rde481a3c759743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11d05ae2f4846" /><Relationship Type="http://schemas.openxmlformats.org/officeDocument/2006/relationships/notesSlide" Target="/ppt/notesSlides/notesSlide5.xml" Id="R016d347ba59a4d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b9000685b48bd" /><Relationship Type="http://schemas.openxmlformats.org/officeDocument/2006/relationships/image" Target="/ppt/media/image12.png" Id="Re8654b74fe644a18" /><Relationship Type="http://schemas.openxmlformats.org/officeDocument/2006/relationships/notesSlide" Target="/ppt/notesSlides/notesSlide6.xml" Id="R866902d0662d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3dc793fff44fb" /><Relationship Type="http://schemas.openxmlformats.org/officeDocument/2006/relationships/image" Target="/ppt/media/image13.png" Id="Rbc5edf0102d54096" /><Relationship Type="http://schemas.openxmlformats.org/officeDocument/2006/relationships/image" Target="/ppt/media/image14.png" Id="Rc7f5fcad388a4d7e" /><Relationship Type="http://schemas.openxmlformats.org/officeDocument/2006/relationships/image" Target="/ppt/media/image15.png" Id="Rdec999ee50504b6e" /><Relationship Type="http://schemas.openxmlformats.org/officeDocument/2006/relationships/image" Target="/ppt/media/image16.png" Id="R2c43fd1205c24842" /><Relationship Type="http://schemas.openxmlformats.org/officeDocument/2006/relationships/image" Target="/ppt/media/image17.png" Id="Rc214c39c8b754f9e" /><Relationship Type="http://schemas.openxmlformats.org/officeDocument/2006/relationships/notesSlide" Target="/ppt/notesSlides/notesSlide7.xml" Id="R14d4173df26b49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2140d35324e50" /><Relationship Type="http://schemas.openxmlformats.org/officeDocument/2006/relationships/image" Target="/ppt/media/image18.png" Id="Rcbf282d7c6674470" /><Relationship Type="http://schemas.openxmlformats.org/officeDocument/2006/relationships/notesSlide" Target="/ppt/notesSlides/notesSlide8.xml" Id="Rae56890491424b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789d8ea6145b9" /><Relationship Type="http://schemas.openxmlformats.org/officeDocument/2006/relationships/image" Target="/ppt/media/image19.png" Id="R7bb1efe80542446e" /><Relationship Type="http://schemas.openxmlformats.org/officeDocument/2006/relationships/image" Target="/ppt/media/image20.png" Id="R4de31bf30f374d06" /><Relationship Type="http://schemas.openxmlformats.org/officeDocument/2006/relationships/image" Target="/ppt/media/image.svg" Id="R2895d41998c34452" /><Relationship Type="http://schemas.openxmlformats.org/officeDocument/2006/relationships/image" Target="/ppt/media/image21.png" Id="R81f14a4af04745af" /><Relationship Type="http://schemas.openxmlformats.org/officeDocument/2006/relationships/image" Target="/ppt/media/image2.svg" Id="R470a9d4b84154cb1" /><Relationship Type="http://schemas.openxmlformats.org/officeDocument/2006/relationships/image" Target="/ppt/media/image22.png" Id="R3c76d867a0094a50" /><Relationship Type="http://schemas.openxmlformats.org/officeDocument/2006/relationships/image" Target="/ppt/media/image3.svg" Id="R128e835a1e0f4295" /><Relationship Type="http://schemas.openxmlformats.org/officeDocument/2006/relationships/image" Target="/ppt/media/image23.png" Id="R5d2ad913fce04c20" /><Relationship Type="http://schemas.openxmlformats.org/officeDocument/2006/relationships/image" Target="/ppt/media/image4.svg" Id="Ra0521903420d486c" /><Relationship Type="http://schemas.openxmlformats.org/officeDocument/2006/relationships/notesSlide" Target="/ppt/notesSlides/notesSlide9.xml" Id="R654f8e6c84f74e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d1fef7c564b90" /><Relationship Type="http://schemas.openxmlformats.org/officeDocument/2006/relationships/notesSlide" Target="/ppt/notesSlides/notesSlide10.xml" Id="Re55e72abeb1b46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bb32938242d9" /><Relationship Type="http://schemas.openxmlformats.org/officeDocument/2006/relationships/image" Target="/ppt/media/image24.png" Id="Rcacaf67b3d144ff2" /><Relationship Type="http://schemas.openxmlformats.org/officeDocument/2006/relationships/image" Target="/ppt/media/image25.png" Id="R9205dd7fbdeb4930" /><Relationship Type="http://schemas.openxmlformats.org/officeDocument/2006/relationships/image" Target="/ppt/media/image26.png" Id="Rbb46a7c595254c78" /><Relationship Type="http://schemas.openxmlformats.org/officeDocument/2006/relationships/image" Target="/ppt/media/image27.png" Id="R49f93b0aeb4b40d0" /><Relationship Type="http://schemas.openxmlformats.org/officeDocument/2006/relationships/notesSlide" Target="/ppt/notesSlides/notesSlide11.xml" Id="R3a74a9474f2c47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A279D-F177-4B94-AE51-3844E9A9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A0DC7-837B-479A-BF75-8F7B03A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03065-6C92-4620-AD17-A30CB4E5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0"/>
            <a:ext cx="5105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08F6-4005-452B-9ABF-4050900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a6bcfd7964425"/>
          <a:stretch xmlns:a="http://schemas.openxmlformats.org/drawingml/2006/main"/>
        </p:blipFill>
        <p:spPr>
          <a:xfrm xmlns:a="http://schemas.openxmlformats.org/drawingml/2006/main">
            <a:off x="7524750" y="514350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b115a66e34b03"/>
          <a:stretch xmlns:a="http://schemas.openxmlformats.org/drawingml/2006/main"/>
        </p:blipFill>
        <p:spPr>
          <a:xfrm xmlns:a="http://schemas.openxmlformats.org/drawingml/2006/main">
            <a:off x="8049819" y="4248150"/>
            <a:ext cx="569112" cy="6286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af0c16ed74149"/>
          <a:stretch xmlns:a="http://schemas.openxmlformats.org/drawingml/2006/main"/>
        </p:blipFill>
        <p:spPr>
          <a:xfrm xmlns:a="http://schemas.openxmlformats.org/drawingml/2006/main">
            <a:off x="8839200" y="4248150"/>
            <a:ext cx="628650" cy="6286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d42de00114884"/>
          <a:stretch xmlns:a="http://schemas.openxmlformats.org/drawingml/2006/main"/>
        </p:blipFill>
        <p:spPr>
          <a:xfrm xmlns:a="http://schemas.openxmlformats.org/drawingml/2006/main">
            <a:off x="9658350" y="4248150"/>
            <a:ext cx="628650" cy="6286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4ca981faa48d1"/>
          <a:stretch xmlns:a="http://schemas.openxmlformats.org/drawingml/2006/main"/>
        </p:blipFill>
        <p:spPr>
          <a:xfrm xmlns:a="http://schemas.openxmlformats.org/drawingml/2006/main">
            <a:off x="10477500" y="42481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10" name="kicker-Produktvision-marker">
            <a:extLst xmlns:a="http://schemas.openxmlformats.org/drawingml/2006/main">
              <a:ext uri="{FF2B5EF4-FFF2-40B4-BE49-F238E27FC236}">
                <a16:creationId xmlns:a16="http://schemas.microsoft.com/office/drawing/2014/main" id="{9958BACB-04DD-4499-BBA2-9F2F0AE3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kicker-Produktvision-label">
            <a:extLst xmlns:a="http://schemas.openxmlformats.org/drawingml/2006/main">
              <a:ext uri="{FF2B5EF4-FFF2-40B4-BE49-F238E27FC236}">
                <a16:creationId xmlns:a16="http://schemas.microsoft.com/office/drawing/2014/main" id="{E5F6EEB5-0B0B-4B41-873C-59D07DD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PRODUKTVISION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01F44-CEC6-4642-83DC-194533E4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5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Routine Stars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5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Feature 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89702-F7FD-4B51-8025-59E03E0F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Vom lokalen Routine-Helfer zum vertrauensvollen Familien-System fuer Alltagsrhythmus, Motivation und Fortschritt.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0B4BB-4A36-4D83-AB11-5C29629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219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C45DA-73AC-45E6-9703-1579705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Ist-Zustand, Produktluecken und moegliche Feature-Routen fuer die naechsten Iterationen.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F433F-F1E9-431D-B8AF-ECBEAB3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352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4D554-1F21-4A77-8DBB-F38DD6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84A99-2979-4EF7-8ADD-1951ADBA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Routine-Templates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07536-47E4-46E9-979F-1DCEC61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1352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F0441-4DDC-4755-A6F4-3363A094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102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7CEEB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87CEEB"/>
                </a:solidFill>
                <a:latin typeface="Poppins"/>
                <a:ea typeface="Poppins"/>
                <a:cs typeface="Poppins"/>
              </a:rPr>
              <a:t>47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E3EE2-CF3A-4C70-830C-5C5C0E4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Reward-Ideen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54CFB-CE14-4793-8D5F-3976149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57800"/>
            <a:ext cx="1352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2C46A-F6D4-4DBB-BB75-8343A04E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102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98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2FC43-5DC5-4EE0-8FC5-41526791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86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Sticker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93841-1A65-4CAF-BE51-5BC63BD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57800"/>
            <a:ext cx="1352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8560E-A7F5-4239-9BD1-25D261E6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102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CC160-66B2-4475-BF1F-3CDEED1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86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Theme-Skins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AED54-2A07-4046-9D5B-1A08460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8459E-589A-4763-94D8-565F59B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62493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5B1AD-4456-41D1-8678-781A807C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925C4-89D2-454A-8A0C-417546E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77732-E499-48DE-BBE3-4C91F3F4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Ist-Zustand-marker">
            <a:extLst xmlns:a="http://schemas.openxmlformats.org/drawingml/2006/main">
              <a:ext uri="{FF2B5EF4-FFF2-40B4-BE49-F238E27FC236}">
                <a16:creationId xmlns:a16="http://schemas.microsoft.com/office/drawing/2014/main" id="{6AB43641-9457-4E5A-904B-0587DA9C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Ist-Zustand-label">
            <a:extLst xmlns:a="http://schemas.openxmlformats.org/drawingml/2006/main">
              <a:ext uri="{FF2B5EF4-FFF2-40B4-BE49-F238E27FC236}">
                <a16:creationId xmlns:a16="http://schemas.microsoft.com/office/drawing/2014/main" id="{78841EEE-AF4E-49EC-B576-CB0EB63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IST-ZUSTAND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F7C64-806A-4B6A-830A-0094467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30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Der lokale Routine-Loop steht.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4754E-8BDD-46FB-8B18-EF27E4BC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Die App ist mehr als eine Liste: Setup, Routinen, Sterne, Belohnungen, Sticker und Elternsicht greifen bereits ineinander.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24000-AFAD-46A3-96E5-1122323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543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1434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6F54A-4AD8-4889-AFAC-C31929C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Lokale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Familienroutine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F8912-9BC6-459F-8CB4-2F67A68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57575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A2877-5220-41E5-81DB-E2867C3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57575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216E1-B850-4075-A1C5-621021B6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241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788F4-37DC-40CA-BED6-831DFD6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386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C4ABA-B6D2-4C7B-A757-EA6FC9E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819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92CF4-A819-485B-9A2B-E03B37F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A313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CA3AE-EC19-4B69-9D42-CA7F64D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6D7F5-42C7-4CAB-8D91-0DCD3A6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Onboarding &amp;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9D35C-05B3-46E8-BAD4-F20F4F88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7-Screen-Erklaerung plus Profil, Routine und Belohnungsstart.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EE875-A2BC-40FD-B7D2-A4DF0F5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819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D4C9E-D044-474E-8819-20B7E8C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76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5A7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119E9-4BDA-45A9-BFD6-C88F5C69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3478D-3ED1-4E83-8043-0274C63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Elternbereich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D7AC8-A575-4F71-8F42-DAC5EA1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Kinder, Progress, Sticker-System, Konto/PIN und lokale Einstellungen.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3F955-9375-4AC9-B4A3-6C95616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20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9875A-128C-49A7-8278-FF21C158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B68A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A9429-5DD4-4CDB-941D-4ED8D0E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4760E-179B-4C9B-B967-B92619B4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24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Routine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85E7A-EC4C-4E74-B065-EC72A61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Aufgaben, Timer, Sterne, Tagesfortschritt und lokale Aktivitaetslogs.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F615F-1BA2-482C-81E6-40FF7C0C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320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5C0DCC-6BC6-4C46-A655-43623735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96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55E7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5C682A-D651-41AF-9371-334C4962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88046-7566-48CC-B075-A705690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91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Motivationssystem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D9F24-B398-4B2C-9D28-FB2E35B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Sterne, Rewards, Sticker-Galerie und einstellbare Freischaltlogik.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47AB4B-A897-4395-9BBB-B836185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743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FD432-505D-4046-B4CF-5F0334C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5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D3D0CC-B9A4-44F6-AAB5-841A7E9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2AA3E-9EFA-4F25-86FA-AC5620F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Content Library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618285-EBA1-4CD7-B87D-106E36C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96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Templates, Aufgaben- und Reward-Vorschlaege beschleunigen den Start.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0ACAB-C8B3-4752-8417-EF316E8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743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816177-4E64-48DE-B0F9-C21B187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815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7CEE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8A573C-02D0-43D5-90CD-AFECDA66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CE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D7A3CA-598E-40F8-929C-5260600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Theme &amp; Assets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EFEB1D-949A-4D36-8E95-468817E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Avatare, Hintergruende, Routine-Art und 98 transparente Sticker.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153494-52F6-4DBC-94B9-39DA4A1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Quelle: lokale Repo-Dateien und Implementierungslog in Agents.md.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7FD05-878A-472F-B25A-D0CCB42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7A538-2FEB-49C5-84E4-C976C55E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94865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D4981-97E0-4C2D-A0CD-D8EC576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0100-28A1-44E6-8C33-5BD7B590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FE1CC-D720-4F01-9BBD-F547768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Proof of foundation-marker">
            <a:extLst xmlns:a="http://schemas.openxmlformats.org/drawingml/2006/main">
              <a:ext uri="{FF2B5EF4-FFF2-40B4-BE49-F238E27FC236}">
                <a16:creationId xmlns:a16="http://schemas.microsoft.com/office/drawing/2014/main" id="{E9C81F14-DDE0-49F7-8BC6-9B054CC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Proof of foundation-label">
            <a:extLst xmlns:a="http://schemas.openxmlformats.org/drawingml/2006/main">
              <a:ext uri="{FF2B5EF4-FFF2-40B4-BE49-F238E27FC236}">
                <a16:creationId xmlns:a16="http://schemas.microsoft.com/office/drawing/2014/main" id="{D52DBA8C-53E8-4F53-A5E4-4DF255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PROOF OF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B9399-EA0D-44DA-BA91-CAFCEB5F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8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Die V1-Basis ist inhaltlich schon tief genug fuer echte Produktintelligenz.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5DAD0-B750-417D-AD0C-81E3C48A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8387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1434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4167C-BF04-4227-A471-E15B5841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69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99457-F137-44AD-8E05-D322EE6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4795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Sticker in 11 Themenwelten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9D66B-3278-46FD-BDE1-64A946F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77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Sammlung, Seltenheiten, Unlock-Reihenfolge und Elternmodus sind bereits im Code verdrahtet.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417e32b704bce"/>
          <a:stretch xmlns:a="http://schemas.openxmlformats.org/drawingml/2006/main"/>
        </p:blipFill>
        <p:spPr>
          <a:xfrm xmlns:a="http://schemas.openxmlformats.org/drawingml/2006/main">
            <a:off x="1029963" y="4305300"/>
            <a:ext cx="454674" cy="5715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bb7c762734020"/>
          <a:stretch xmlns:a="http://schemas.openxmlformats.org/drawingml/2006/main"/>
        </p:blipFill>
        <p:spPr>
          <a:xfrm xmlns:a="http://schemas.openxmlformats.org/drawingml/2006/main">
            <a:off x="1714500" y="4305300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090d3e08f4744"/>
          <a:stretch xmlns:a="http://schemas.openxmlformats.org/drawingml/2006/main"/>
        </p:blipFill>
        <p:spPr>
          <a:xfrm xmlns:a="http://schemas.openxmlformats.org/drawingml/2006/main">
            <a:off x="2457450" y="4305300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61e7f0084e5f"/>
          <a:stretch xmlns:a="http://schemas.openxmlformats.org/drawingml/2006/main"/>
        </p:blipFill>
        <p:spPr>
          <a:xfrm xmlns:a="http://schemas.openxmlformats.org/drawingml/2006/main">
            <a:off x="3200400" y="4305300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18982bf05401f"/>
          <a:stretch xmlns:a="http://schemas.openxmlformats.org/drawingml/2006/main"/>
        </p:blipFill>
        <p:spPr>
          <a:xfrm xmlns:a="http://schemas.openxmlformats.org/drawingml/2006/main">
            <a:off x="3943350" y="4305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B95DE-E47F-4653-BED5-FB6D7E9F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D16BD-C4B4-4ED1-9A8E-75B174B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B7765-38DD-4AAB-957C-4BC88CA2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Routine-Templates fuer Morgen, Abend, Schule, Haushalt, Sport und Spezialfaelle.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9EF9E-CD36-4AFC-A5B2-F7C4C06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1DBC4-0313-4DFB-81A8-9A9A93E9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E48D7-EE47-4716-9173-4D22076F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Task-Suggestions mit Keyword- und Tageszeitlogik.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1E787-CDAE-4584-965C-30E8266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EEF13-08A4-4ABD-8BE9-0AF37CA4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47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9456A-EB91-4E54-980D-D32649A5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Reward-Vorschlaege in 7 Kategorien fuer Elternauswahl.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223CC-0E82-4536-86F4-27CC0430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D8901-8C47-439A-A787-7B83C83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C55E7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7C55E7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41290-6D2B-47F4-A515-FA3217C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Welcome-Screens erklaeren Nutzen vor dem Setup.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34e6592cd4d6d"/>
          <a:stretch xmlns:a="http://schemas.openxmlformats.org/drawingml/2006/main"/>
        </p:blipFill>
        <p:spPr>
          <a:xfrm xmlns:a="http://schemas.openxmlformats.org/drawingml/2006/main">
            <a:off x="10248900" y="66675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B09E6-01EF-4CFB-84AA-78AA4E15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Interpretation: Die naechste Produktwelle muss nicht bei Null anfangen. Sie kann bestehende Inhalte in Timing, Personalisierung und Langzeitmotivation uebersetzen.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0DFB1-DC89-4FC8-9337-92D4F66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C1777-63AC-4A3B-BD23-8ABB622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253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7BC77-D5DF-4A21-AB7A-BF9DE9A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45243-63A6-4EBF-A507-8E95C60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8F364-82E6-44B0-B4B3-A3BC3C9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Produktluecke-marker">
            <a:extLst xmlns:a="http://schemas.openxmlformats.org/drawingml/2006/main">
              <a:ext uri="{FF2B5EF4-FFF2-40B4-BE49-F238E27FC236}">
                <a16:creationId xmlns:a16="http://schemas.microsoft.com/office/drawing/2014/main" id="{8A4B0F6F-86B7-4896-991A-6B98E661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Produktluecke-label">
            <a:extLst xmlns:a="http://schemas.openxmlformats.org/drawingml/2006/main">
              <a:ext uri="{FF2B5EF4-FFF2-40B4-BE49-F238E27FC236}">
                <a16:creationId xmlns:a16="http://schemas.microsoft.com/office/drawing/2014/main" id="{F225589C-1E82-467F-BF58-6CDC48F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PRODUKTLUECKE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6B75B-A9C3-44EF-93AE-6D236D58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30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Der Engpass ist nicht mehr Content. Der Engpass ist Orchestrierung.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DC45B-9B51-47DB-9EAA-95E0CE7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 Stars hat die Bausteine. Der naechste Reifegrad entsteht, wenn die App den richtigen naechsten Schritt erkennt und erklaert.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1A9F8-216B-4339-BA01-4F97509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0512C-DEB6-473F-9A30-128527A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622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DF37A-B879-4445-AA7C-D3692866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28C03-4F7A-449C-B857-73514E83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HEUTE STARK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1777A-8B2C-47DD-AB9C-98001027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645B-0E09-410E-A3C3-B7CB0ED4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ZUKUNFTSPOTENZIAL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92227-C5B0-47BB-A89A-678E0CEB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D765B-29C5-4036-B94C-F967F55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173AC-CF18-4833-8873-954FA29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Schneller 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331AA-BB38-4F64-841F-0DB5EB0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623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Templates, Rewards und Vorschlaege reduzieren Einrichtungsaufwand.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D47A0-A177-4486-8FCC-AC3E5CE0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069CF-A93C-454A-8D74-3CA0C5E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16D85-3E07-4624-8CB7-D68A8920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Sofortiges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DDB85-4FD8-47B7-B66F-7A34537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Aufgaben, Sterne, Timer und Sticker machen Erfolg direkt sichtbar.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A4F57-82A2-46A7-B341-FB6FD2F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7BA83-AB7D-4EE8-816F-4A9FB9A1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5E7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7C55E7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527A5-3D89-47DD-9571-783569E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Elternkontrolle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7973A-24F2-46B0-A613-05D6378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Lokaler Elternbereich, PIN und Einstellungen schaffen Schutzraum.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29142-A5F4-4C5F-A0AF-1177C78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76D02-C853-455B-B0FE-BE58CB36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527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A313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7A313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A5865-16F4-4860-B351-7528FF3E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Adaptive Routine Coach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86D78F-8884-41B7-B1C6-A3A0D1C3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623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Schlaegt Aenderungen vor, wenn Routinen zu schwer, zu leicht oder zu spaet sind.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1B902-A072-4450-8864-CACC870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7F634-9348-4DFB-B4E1-C8EAB85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766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C447C-495F-4BFB-9A3F-9909BAB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Langzeitmotivation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4D113C-E9BB-416D-8DAA-63FF3B54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862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Verwandelt Wiederholung in Welten, Sammlungen und erreichbare Etappen.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A6C68-C83E-4E04-A0D1-D257167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078A5-8FA4-4794-ACC1-0FE3A7A8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0057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E38354-05C3-4A8E-A4E1-EB0D2B97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Eltern-Insights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696A3-ACBE-4DB7-BCE0-FF2D224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Zeigt Muster und kleine Interventionen, ohne Druck oder Ueberwachung.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E2BD4A-178D-4669-96B2-E892B5EB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33650"/>
            <a:ext cx="190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CF59CA-8570-4D4B-82F3-9374676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57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A5AE3-61DF-4E51-811F-A672C052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971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Adaptive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AD69BF-5C25-4B2E-879E-1B21D7F9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912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Routine Stars muss vom Speichern zum Deuten wechseln.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5980E-BCDA-476A-ADFE-5A70A0C3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9124EB-4354-4DC0-8F66-E0BB912F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73325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64357-38E4-4FD2-83FC-BE1B6859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4C10A-9040-4AA0-831C-98E50B4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Vision-marker">
            <a:extLst xmlns:a="http://schemas.openxmlformats.org/drawingml/2006/main">
              <a:ext uri="{FF2B5EF4-FFF2-40B4-BE49-F238E27FC236}">
                <a16:creationId xmlns:a16="http://schemas.microsoft.com/office/drawing/2014/main" id="{5180F503-34F0-417E-A39E-B773D283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Vision-label">
            <a:extLst xmlns:a="http://schemas.openxmlformats.org/drawingml/2006/main">
              <a:ext uri="{FF2B5EF4-FFF2-40B4-BE49-F238E27FC236}">
                <a16:creationId xmlns:a16="http://schemas.microsoft.com/office/drawing/2014/main" id="{9D0F22CA-E4C3-4072-92FB-8F2DC34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89A77-60C3-476E-88FD-5B00848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638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Routine Stars wird zum Family Routine 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7C390-2BB5-44EF-BC1B-0888BF1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Die Zukunft ist ein ruhiger Kreislauf: planen, erledigen, feiern, verstehen und anpassen - jeden Tag ein bisschen besser.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57005-AB27-496E-854B-11F215F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4476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315B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8820-604E-4020-82F1-E373CCC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2419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4E49A-D5DC-4832-801E-C440798B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Plan -&gt; Do -&gt; Celebrate -&gt; Reflect -&gt; Adapt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889A0-8CEE-4103-82AC-964B247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162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EB1BC-84A7-46D4-892A-0DA76CFD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2A9EE-8E47-4477-AEBB-1874D7CD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812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52054-E14A-4BEE-ADF3-E991163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4317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Planen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A6F5A-2EDC-4E88-A113-9A057D6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1162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E51C1-A61F-4490-BF0B-DD523C4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CE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7814B-FCDD-48C8-B6F9-03CFA62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9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C5580-1C97-410E-9741-C935CB6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Machen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4401D-5944-438E-86D0-B174D0B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1162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A7B46-E0D6-4882-9D8B-0C784DA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00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31E24-B6B2-43D3-99EE-278C5765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292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7F725-053E-43C2-BBFA-F0340EF6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9112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Feiern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798B8-7FEC-4905-A7B2-762D875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1162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17E3D-389E-46A6-B36E-26AB032C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BFC1B-C9B4-4F8F-B310-58CFE31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292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431A7-620A-4BA6-8D9C-A733B17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9112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Reflekt.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7864E-BEC7-4211-940A-3A952F3E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1162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877CA-80FB-4CFC-BC90-D3B5113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A578A-19BD-4104-B5B3-491B877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F8071-459C-49BB-9232-5ECF23CB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7187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Anpassen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DFFA6-BFE7-40FC-9649-53E081D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001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Nordstern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8BD14-B63C-4797-AD4F-91FC035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14450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Weniger Erinnern fuer Eltern. Mehr Selbstwirksamkeit fuer Kinder. Ein System, das sich an Familie und Alltag anpasst.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AF2F0-DBF9-486F-B0AB-C1E1750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476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60AAC-BE84-4CDE-A290-72127E0D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EA105C-A16C-4310-82F4-6A2E72B9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Aktivierung: erste Routine in Minuten, nicht in Einstellungen.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B89FFD-A027-43C3-8E41-947955C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48100"/>
            <a:ext cx="2476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2A3F51-21BE-496B-9F1E-6A9B1FB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48D7F-76BC-4B11-A92B-1CE3E072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Bindung: Wiederkehr durch sichtbare Reise statt isolierte Punkte.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E23BA9-23E1-4A76-A18F-2490836D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2476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323990-9C20-4AEF-91EB-3ECA539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55F203-C51C-41AA-9F61-8E6F6F9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388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Vertrauen: lokale Kontrolle bleibt Produktprinzip.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17F11-2698-409B-A77F-95C7A8D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BFDEF8-676E-4C58-B3B0-1056C82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5875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838D0-4E3A-4161-82E8-1DD2A05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64DBE-D25E-4CA8-BE98-330CB3E1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CE1A6-0246-4DA2-BF4C-473B68A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Feature Route 1-marker">
            <a:extLst xmlns:a="http://schemas.openxmlformats.org/drawingml/2006/main">
              <a:ext uri="{FF2B5EF4-FFF2-40B4-BE49-F238E27FC236}">
                <a16:creationId xmlns:a16="http://schemas.microsoft.com/office/drawing/2014/main" id="{13E08A92-584C-4F2C-BB98-BEF520E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Feature Route 1-label">
            <a:extLst xmlns:a="http://schemas.openxmlformats.org/drawingml/2006/main">
              <a:ext uri="{FF2B5EF4-FFF2-40B4-BE49-F238E27FC236}">
                <a16:creationId xmlns:a16="http://schemas.microsoft.com/office/drawing/2014/main" id="{22079170-6EA0-4B58-8DC0-DE5E396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FEATURE ROUTE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DDF68-E7B2-4282-853E-B586A59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Smart Routine Coach macht aus Vorlagen echte Alltagshilfe.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64EAE-8157-4380-9F69-ACBA7B9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Die vorhandenen Templates und Task-Suggestions werden zur Basis fuer adaptive Empfehlungen, die Eltern kontrollieren koennen.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54b74fe644a18"/>
          <a:stretch xmlns:a="http://schemas.openxmlformats.org/drawingml/2006/main"/>
        </p:blipFill>
        <p:spPr>
          <a:xfrm xmlns:a="http://schemas.openxmlformats.org/drawingml/2006/main">
            <a:off x="9696450" y="533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B820E-EE6D-4F8C-A894-2F1225EA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7051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BD2D8-B0A6-44BF-AAEB-4005324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271E4-9B10-4F71-BA34-9D12F97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86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ADFEF-BD70-4675-A949-9E666E25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Signale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C8C97-E275-4FFE-B98A-D422EF71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Alter und Tageszeit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887F5-C90E-43E1-9A41-282D96EE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Routine-Name und Aufgaben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6EB8E-9DA8-458D-9492-E3EF792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Abbruch- und Timer-Muster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2410A-F907-4AB8-9EE6-3910E39B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7051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BE8F-81F6-410A-A339-9D9D7A3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E4917-0DB4-43B9-8130-B7D519F6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86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23D2F-89C1-441C-A632-CCBEECC2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Coach-Logik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3EB4C-C547-4FFE-B21F-537F166D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Schweregrad erkennen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E94FD-835A-4F3C-BBE3-B506FA7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909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naechsten Schritt vorschlagen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D042E-4B7B-4699-A21D-1F5A2D3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Elternfreigabe behalten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00A33-A3C5-4F8C-B13A-1F85EB4B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90800"/>
            <a:ext cx="27051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E0220-D583-4C87-929A-AC038FA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A4BC7-FD1E-454A-A1CC-1E917641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86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F40D4-4D2E-4706-A5A7-0328F94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Empfehlungen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982DC-7F5F-429F-B597-288D7FD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 kuerzen oder teilen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C56EF-966C-4849-A573-94646E6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909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Belohnung passend setzen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783A7-2CA9-4A73-BA8F-083BA05F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Comeback nach Pausen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6FC4F-B9BB-48D5-9175-15427BF4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FD8CA-846D-424E-B0E5-53A5A7D8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838B3-B0E7-4501-AFF6-90CA607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952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1434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35166-648A-4485-B21C-656D9089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Warum das wichtig 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6B96B2-5F65-4129-91C0-4F9F7DF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Eltern muessen weniger konfigurieren. Kinder bekommen Routinen, die erreichbarer wirken. Das staerkt Aktivierung und Wiederkehr, ohne den lokalen Schutzraum aufzugeben.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470AC-ADA7-4EEF-AA14-33DB470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AE0376-7966-460F-9722-C4EB3E61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58513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089A0-34C8-4D7F-999C-A590F08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97CA2-7201-4AE3-93C2-7B0DCD37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Feature Route 2-marker">
            <a:extLst xmlns:a="http://schemas.openxmlformats.org/drawingml/2006/main">
              <a:ext uri="{FF2B5EF4-FFF2-40B4-BE49-F238E27FC236}">
                <a16:creationId xmlns:a16="http://schemas.microsoft.com/office/drawing/2014/main" id="{3BEBF785-55A6-4865-9E9D-A062E676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Feature Route 2-label">
            <a:extLst xmlns:a="http://schemas.openxmlformats.org/drawingml/2006/main">
              <a:ext uri="{FF2B5EF4-FFF2-40B4-BE49-F238E27FC236}">
                <a16:creationId xmlns:a16="http://schemas.microsoft.com/office/drawing/2014/main" id="{0274AC1D-AAC3-4513-8950-DDC00B7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FEATURE ROUTE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8AA4E-C9F7-400D-AA7E-BE14C0F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1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Langzeitmotivation braucht Welten, nicht nur Punkte.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FCB81-8959-4D9F-94F2-6B26B9C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14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Quest Worlds machen Wiederholung kindgerecht: Sticker, Themen, kleine Reisen und Comeback-Momente ersetzen reine Zaehler.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2D910-1325-4EFE-84F4-11C1266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51329-F033-4669-8A82-7E17886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315B7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edf0102d54096"/>
          <a:stretch xmlns:a="http://schemas.openxmlformats.org/drawingml/2006/main"/>
        </p:blipFill>
        <p:spPr>
          <a:xfrm xmlns:a="http://schemas.openxmlformats.org/drawingml/2006/main">
            <a:off x="1159085" y="2838450"/>
            <a:ext cx="539329" cy="609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BD806-167A-473F-AA5F-D5F9D133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Tierfreunde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FD60C-2B40-47E1-8E62-CFACAEE4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Starterwelt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E5D09-1636-4AF0-93AF-3D04CF82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E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71A9C-FDAC-4345-88F7-1FFB020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315B7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fcad388a4d7e"/>
          <a:stretch xmlns:a="http://schemas.openxmlformats.org/drawingml/2006/main"/>
        </p:blipFill>
        <p:spPr>
          <a:xfrm xmlns:a="http://schemas.openxmlformats.org/drawingml/2006/main">
            <a:off x="3067050" y="2457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3E085-B527-4729-9BE6-882F814A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Weltraum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57A1C-8FB6-46EB-83A3-1A10AD5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Missionen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425BC-E0FB-457D-8B95-1371BFD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1470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6A9A3-042D-4A87-9D8E-65636BE3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315B7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999ee50504b6e"/>
          <a:stretch xmlns:a="http://schemas.openxmlformats.org/drawingml/2006/main"/>
        </p:blipFill>
        <p:spPr>
          <a:xfrm xmlns:a="http://schemas.openxmlformats.org/drawingml/2006/main">
            <a:off x="5010150" y="3028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62EF4-478B-40E5-A8C3-7E6AE1A9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Magie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537FB-563D-450C-B608-23300833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Serienreise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94E4D-A16C-4735-9126-2A1893EE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9D817-9D42-4E9C-9327-B45841F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315B7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fd1205c24842"/>
          <a:stretch xmlns:a="http://schemas.openxmlformats.org/drawingml/2006/main"/>
        </p:blipFill>
        <p:spPr>
          <a:xfrm xmlns:a="http://schemas.openxmlformats.org/drawingml/2006/main">
            <a:off x="6953250" y="25527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0DB0A-712A-4CB3-B1BC-D029DEC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Helden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24029-59CB-43CA-8D8F-F16DD6A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Teamquests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EBC7D-A6FA-43DC-A1F2-293B10D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4E700-D335-429F-ABE4-365F4BE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315B7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4c39c8b754f9e"/>
          <a:stretch xmlns:a="http://schemas.openxmlformats.org/drawingml/2006/main"/>
        </p:blipFill>
        <p:spPr>
          <a:xfrm xmlns:a="http://schemas.openxmlformats.org/drawingml/2006/main">
            <a:off x="8896350" y="29337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0EF32-F063-4970-9F5F-D5BE7E8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8F4481-2EA1-4F02-8A1A-ED3D87EF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76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Saisonwelt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BEBA3-9652-44B2-808A-E15D7A1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251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9073E-55B2-4E92-B7C2-6780A488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Neue Funktionen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A32DA-C074-4C72-91ED-405FB69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Themenpfade, Wochenquests, Sticker-Sets, Avatar-Entwicklung.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57D64-EE77-4C13-9707-77F52BA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0"/>
            <a:ext cx="251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A6293-FA11-4448-9126-60A3C0F1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Kindlicher Nutzen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EDA44-4ADD-43D7-9CA4-A8ACF311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340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Fortschritt fuehlt sich wie Entdecken an, nicht wie Kontrollliste.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0220E0-0E7D-4B84-99D1-04367923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34000"/>
            <a:ext cx="251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F219A9-FDFF-49A9-91A2-E7C39E0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Elternnutzen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98CE5C-DF78-4BB8-954E-16197AD8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340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Mehr Motivation ohne groessere Belohnungskosten.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433D3-E490-4927-9FFA-E33D115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1885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4E110-E89C-4B56-8F1E-C54A0F37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864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55E7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7C55E7"/>
                </a:solidFill>
                <a:latin typeface="Poppins"/>
                <a:ea typeface="Poppins"/>
                <a:cs typeface="Poppins"/>
              </a:rPr>
              <a:t>Monetarisierung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18519D-D378-4C95-9B48-4B674B79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340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Premium-Themen und saisonale Packs.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83B436-19A0-43DE-8C2A-E638531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62C56-C00B-48BA-AB7D-9848652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38875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9C035-F1D9-493C-83AF-A8B15F3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57462-9DE8-43B5-87FA-624DBCDE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002DA-4B59-484F-AB2B-296DAB7E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Feature Route 3-marker">
            <a:extLst xmlns:a="http://schemas.openxmlformats.org/drawingml/2006/main">
              <a:ext uri="{FF2B5EF4-FFF2-40B4-BE49-F238E27FC236}">
                <a16:creationId xmlns:a16="http://schemas.microsoft.com/office/drawing/2014/main" id="{4CE6B966-9FDD-410F-AED1-34DF575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Feature Route 3-label">
            <a:extLst xmlns:a="http://schemas.openxmlformats.org/drawingml/2006/main">
              <a:ext uri="{FF2B5EF4-FFF2-40B4-BE49-F238E27FC236}">
                <a16:creationId xmlns:a16="http://schemas.microsoft.com/office/drawing/2014/main" id="{230C9489-7807-4B7D-B33F-506E9CD5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FEATURE ROUTE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E0598-7219-47A9-B660-DF73680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Eltern brauchen Signale, keine Ueberwachung.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AD8FA-150E-45A3-85DE-4369642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Ein Parent Command Center fasst Wochenmuster zusammen und schlaegt kleine, respektvolle Interventionen vor.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282d7c6674470"/>
          <a:stretch xmlns:a="http://schemas.openxmlformats.org/drawingml/2006/main"/>
        </p:blipFill>
        <p:spPr>
          <a:xfrm xmlns:a="http://schemas.openxmlformats.org/drawingml/2006/main">
            <a:off x="9658350" y="40005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639A-C81F-4FFF-8FE9-24D6692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9817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86791-A84A-4B03-B067-0A11AC5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Wochenreview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AC6BE-4DCA-4DBA-BEFA-A0BC095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Morgens laeuft stabil. Abendroutine bricht haeufig bei Aufgabe 4 ab.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CBABB-1A6A-4598-95F1-4668C6E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Aktive 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29256-026C-4B4B-8112-0FF43C8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81425"/>
            <a:ext cx="1543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64536-2F6E-4271-A65A-2A33EEEE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81425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3E293-EDBA-406C-A519-FF1AE02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Sterne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9765C-112A-4F45-986F-5BBF1D43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43375"/>
            <a:ext cx="1543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ED7E4-A3E2-4A2E-B8D1-D5D041C6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43375"/>
            <a:ext cx="1447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7A775-514F-4DDA-9749-89E80011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2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5AA36-3226-47D7-8160-A8DD4A0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5325"/>
            <a:ext cx="1543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216CA-7487-4A3A-8B5D-916822E4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5325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9DA5A-1413-4EA4-8002-5AE8DCA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1AEEE-8A93-4B53-A1C9-120D08C7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5B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9735B"/>
                </a:solidFill>
                <a:latin typeface="Poppins"/>
                <a:ea typeface="Poppins"/>
                <a:cs typeface="Poppins"/>
              </a:rPr>
              <a:t>Empfohlene Aktion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BA1E3-AB9F-42AF-B265-48F4AC1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Abendroutine in zwei kurze Schritte teilen und Sticker-Modus fuer diese Woche auf Routineabschluss lassen.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99E9D-728E-4F3A-90C1-9D849A8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1434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9F3CA-4C74-4D5D-B798-3912D544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Funktion 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5B8B0-1CFA-4232-BC23-162E732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Woechentlicher Elternbericht mit Muster, Ausreissern und naechstem Test.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F3BA7-4AB0-4935-BDA9-E357F44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0520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0C74F-916F-4B80-865B-0AC37167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Funktion 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7DAF6-D562-4F14-942E-1835B9C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Caregiver-Handoff: zweiter Elternteil, Grosseltern oder Babysitter sehen nur freigegebene Routineansicht.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818FF-8C82-4494-9290-740BA1A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2915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DD700-CA64-4ABD-A903-B20032A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B68A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5BB68A"/>
                </a:solidFill>
                <a:latin typeface="Poppins"/>
                <a:ea typeface="Poppins"/>
                <a:cs typeface="Poppins"/>
              </a:rPr>
              <a:t>Funktion 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654C4-0EFB-43D6-A118-90BD86AB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Belohnungsbudget und Einloesehistorie machen Motivation planbar.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A441E-E56D-4467-A184-BB27BA9F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F99D0C-0CB0-474D-8334-263F9FE3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12004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07A4E-CD8D-4466-AB68-5C0E97E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D19E7-7D14-4C26-9BEC-46C50414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2341F-D798-4AE5-A3AF-6BEED0C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Feature Route 4-marker">
            <a:extLst xmlns:a="http://schemas.openxmlformats.org/drawingml/2006/main">
              <a:ext uri="{FF2B5EF4-FFF2-40B4-BE49-F238E27FC236}">
                <a16:creationId xmlns:a16="http://schemas.microsoft.com/office/drawing/2014/main" id="{491E92E8-DA6C-468E-91E7-D89A12D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Feature Route 4-label">
            <a:extLst xmlns:a="http://schemas.openxmlformats.org/drawingml/2006/main">
              <a:ext uri="{FF2B5EF4-FFF2-40B4-BE49-F238E27FC236}">
                <a16:creationId xmlns:a16="http://schemas.microsoft.com/office/drawing/2014/main" id="{FA562CEB-1A49-4D8A-8A38-8E8BE72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FEATURE ROUTE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370A2-7BB6-4BC2-BDF9-AE6A453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8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Richtiger Zeitpunkt statt Dauerrauschen.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C0BD4-D7FD-46E1-8DFC-9FA19AA2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Lokale Ereignisse, Ruhezeiten und spaeter Sync steuern unaufdringliche Erinnerungen.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1efe80542446e"/>
          <a:stretch xmlns:a="http://schemas.openxmlformats.org/drawingml/2006/main"/>
        </p:blipFill>
        <p:spPr>
          <a:xfrm xmlns:a="http://schemas.openxmlformats.org/drawingml/2006/main">
            <a:off x="9915525" y="571500"/>
            <a:ext cx="971550" cy="1295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BBD25-4468-41EA-86E4-713F6A25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1434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BF4DF-C424-457E-A5E6-6496AC3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Routine Event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7D010-6145-41C1-8777-93D66AF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Task erledigt, Routine fertig, Tag fast geschafft, Belohnung bereit, Pause erkannt.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CF5A4-0C11-4AC8-B5A1-BBAC520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40073-E0CB-4120-BE9F-134DB640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0D83F-019A-4DEB-AC7C-F1A87B3D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146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E18A3-EA97-4442-BF95-936E090C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672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91553-483B-4DD4-A7E9-4E1A869A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038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31bf30f374d06">
            <a:extLst>
              <a:ext uri="{96DAC541-7B7A-43D3-8B79-37D633B846F1}">
                <asvg:svgBlip xmlns:asvg="http://schemas.microsoft.com/office/drawing/2016/SVG/main" r:embed="R2895d41998c344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143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5D4E0-64AD-4E30-AB99-6D3EC73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Local Reminder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A02E8-35D5-4ED1-B593-E607894C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freundlich, ruhig, zeitlich passend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E0796-1148-4440-94AE-CFA816C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2038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14a4af04745af">
            <a:extLst>
              <a:ext uri="{96DAC541-7B7A-43D3-8B79-37D633B846F1}">
                <asvg:svgBlip xmlns:asvg="http://schemas.microsoft.com/office/drawing/2016/SVG/main" r:embed="R470a9d4b84154c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3143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4C5A8-1760-48D5-9C74-D216B28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Widgets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A893B-5D71-44CF-BD4A-06B978F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Tagesroutine ohne App-Oeffnen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4AB87-5504-4452-BC57-6F5E5E2E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0200"/>
            <a:ext cx="2038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6d867a0094a50">
            <a:extLst>
              <a:ext uri="{96DAC541-7B7A-43D3-8B79-37D633B846F1}">
                <asvg:svgBlip xmlns:asvg="http://schemas.microsoft.com/office/drawing/2016/SVG/main" r:embed="R128e835a1e0f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00650" y="18097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02532-5F57-41EA-98D6-5784F437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71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App Intents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70D9D-EC49-4F84-8ADB-96607006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19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Siri/Shortcuts fuer Start und Abschluss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70D64A-9556-4486-8E08-31F9095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2038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ad913fce04c20">
            <a:extLst>
              <a:ext uri="{96DAC541-7B7A-43D3-8B79-37D633B846F1}">
                <asvg:svgBlip xmlns:asvg="http://schemas.microsoft.com/office/drawing/2016/SVG/main" r:embed="Ra0521903420d48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00650" y="4800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BEDEB-7FBF-4D7C-B670-89E2D644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625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Kalender &amp; Sync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6B7EB-1104-45C6-B88A-7782A66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101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spaeter: Familiengeraete und Backups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4DBBA-6859-4BA1-8890-B0696D2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3257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FFE3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CCB32-6655-4DE5-8963-5BF61797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530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Prinzip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31DC4-7E0B-41FD-95D6-BCFC6E18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Automation bleibt elternkontrolliert und lokal-first.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3459E-816F-4A46-B666-20975C79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257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9525">
            <a:solidFill>
              <a:srgbClr val="CBE7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9C4660-8CAF-4343-88E3-B9814F18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Abhaengigkeit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9E6E5-66B0-4279-8780-E7E9946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149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Cloud/Accounts erst, wenn Core-Retention stabil ist.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693809-0F16-492E-96B9-225A7A6F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BD4A76-5EE6-4172-87E0-615939F0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03076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76FD36-908F-4B2C-88D6-1DA3135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7C93F-D514-4546-8FF9-7BB826E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BAE29-50CB-468E-B484-7F060663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22860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Roadmap Logik-marker">
            <a:extLst xmlns:a="http://schemas.openxmlformats.org/drawingml/2006/main">
              <a:ext uri="{FF2B5EF4-FFF2-40B4-BE49-F238E27FC236}">
                <a16:creationId xmlns:a16="http://schemas.microsoft.com/office/drawing/2014/main" id="{1C0002C8-E418-403F-8D77-EC76AB4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Roadmap Logik-label">
            <a:extLst xmlns:a="http://schemas.openxmlformats.org/drawingml/2006/main">
              <a:ext uri="{FF2B5EF4-FFF2-40B4-BE49-F238E27FC236}">
                <a16:creationId xmlns:a16="http://schemas.microsoft.com/office/drawing/2014/main" id="{D1C5625D-2113-4A6D-BF45-5BAF1B7D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ROADMAP 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11EF-EDF3-4B1F-ABBE-B5E2BCC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Sequenz: erst den Habit Loop schaerfen, dann Flaechen und Geschaeftsmodell erweitern.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7FDD7-616A-4458-A896-0E4B92C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Die Reihenfolge minimiert Risiko: Jede Stufe baut auf einem stabileren, haeufiger genutzten Kern auf.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897DC-17B0-4A36-AD2F-3CEDB8CA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3295650" cy="34480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80428-EAD0-4F1E-87FE-FFBB5A6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5A7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6622-592A-4B2F-989F-7A121E07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DA76-6BE4-4830-A606-4860370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0-8 Wochen: Core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E3C5E-B786-4B74-AA87-7D72B2F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04F5A-C754-4413-AB2C-6E76A38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Coach 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B5908-A73C-4EB5-8F54-65CA621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242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bessere Vorschlaege und Elternfreigabe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D5DB-FC6E-47A1-B876-32B091C2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868C5-B48B-4532-B2EF-594035E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Weekly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C9C3A-E21D-41F0-B74A-1EA5763F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ein klares Muster pro Woche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1088D-0AD0-498A-B0B1-636AD423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D8EBF-91BE-463B-85F8-A61858FD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Quest Map V1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C9DF7-3683-42C6-BF52-BDFB8D9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577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Stickerpfad fuer vorhandene 98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13331-7990-4BA3-935C-85FC18E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3295650" cy="34480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52D49-15B9-4D0A-A092-E1CBD3DA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A313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C0177-59B0-4774-9BAC-BC55C136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19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A313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7A313"/>
                </a:solidFill>
                <a:latin typeface="Poppins"/>
                <a:ea typeface="Poppins"/>
                <a:cs typeface="Poppins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1F24C-EC27-452E-8F15-F896C4E1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2-4 Monate: Familiennutzung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59AC7-EA7F-47D2-9BC5-BB3A961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273D0-8671-4B38-BD03-13E4C10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Caregiver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DD3DA-AEB6-44EB-8A92-451CD75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242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freigegebene Routineansicht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80A14-8E27-4485-AA29-C281FC1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7C115-EFB9-40B0-BE0B-CE9C66F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Widgets/Shortcuts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F3E9D-4EFA-4205-81AB-305D08C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9102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Routine sichtbar ohne Reibung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9B2EA8-B509-445E-8908-C84E9C5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BF2BA-CBAE-4BA8-BA0C-57DE332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96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Season Packs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4F884E-E11A-452F-96BB-429D3824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577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Premium-nahe Inhalte testen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A68AB-3742-4C2C-8622-6DECE37B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295650" cy="34480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82AEB-3D50-4A95-90F8-83ADFE7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C55E7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282B29-F79D-4956-9986-5AC9FCB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5E7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7C55E7"/>
                </a:solidFill>
                <a:latin typeface="Poppins"/>
                <a:ea typeface="Poppins"/>
                <a:cs typeface="Poppins"/>
              </a:rPr>
              <a:t>LATER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58127-F9E7-40B8-A6FE-DAC1B245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6-12 Monate: Plattform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6F5EF3-FE3E-44A3-BF1D-21DB7F2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ED605-6288-4536-8387-FEB2154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Account &amp; Sync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81D383-5566-42DB-8BCD-EB19B7C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242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Backup, mehrere Geraete, Migration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44F7C2-3992-40F3-98D6-30890CB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14044B-FF2A-42DA-9705-FA03D47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529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Subscription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FA91F-A14B-48C6-8269-A18607F6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9102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Themes, Insights, Familienfunktionen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807781-8672-4780-814E-B844804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2C2A12-7329-46AA-820A-69D24C0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96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A3A"/>
                </a:solidFill>
                <a:latin typeface="Poppins"/>
                <a:ea typeface="Poppins"/>
                <a:cs typeface="Poppins"/>
              </a:defRPr>
            </a:pPr>
            <a:r>
              <a:rPr sz="1163" b="1">
                <a:solidFill>
                  <a:srgbClr val="102A3A"/>
                </a:solidFill>
                <a:latin typeface="Poppins"/>
                <a:ea typeface="Poppins"/>
                <a:cs typeface="Poppins"/>
              </a:rPr>
              <a:t>Integrationen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368CB2-CA0F-49E5-804A-44BE8E6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57775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Kalender, Schule/Betreuung optional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3C3E8C-5F94-45DA-939C-9F49D8F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E56524-981D-4549-8BD2-87FA98F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FF8466-CDCA-4700-8922-144835D1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A74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245A74"/>
                </a:solidFill>
                <a:latin typeface="Poppins"/>
                <a:ea typeface="Poppins"/>
                <a:cs typeface="Poppins"/>
              </a:rPr>
              <a:t>Gate: Wiederkehr und Elternvertrauen vor Monetarisierungsdruck.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3EEEC6-6634-4C01-8E78-AE51A84A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360D1D-7CAE-4C63-A5DA-08DF21F3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A86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6B7A86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66350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C7762-AD3D-4502-9961-58E71721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394E3-6B3C-4C26-AC25-B493D38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B1043-25EF-4481-9967-BCFB828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434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af67b3d144ff2"/>
          <a:stretch xmlns:a="http://schemas.openxmlformats.org/drawingml/2006/main"/>
        </p:blipFill>
        <p:spPr>
          <a:xfrm xmlns:a="http://schemas.openxmlformats.org/drawingml/2006/main">
            <a:off x="8782050" y="6667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dd7fbdeb4930"/>
          <a:stretch xmlns:a="http://schemas.openxmlformats.org/drawingml/2006/main"/>
        </p:blipFill>
        <p:spPr>
          <a:xfrm xmlns:a="http://schemas.openxmlformats.org/drawingml/2006/main">
            <a:off x="8648700" y="521970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6a7c595254c78"/>
          <a:stretch xmlns:a="http://schemas.openxmlformats.org/drawingml/2006/main"/>
        </p:blipFill>
        <p:spPr>
          <a:xfrm xmlns:a="http://schemas.openxmlformats.org/drawingml/2006/main">
            <a:off x="9525000" y="521970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93b0aeb4b40d0"/>
          <a:stretch xmlns:a="http://schemas.openxmlformats.org/drawingml/2006/main"/>
        </p:blipFill>
        <p:spPr>
          <a:xfrm xmlns:a="http://schemas.openxmlformats.org/drawingml/2006/main">
            <a:off x="10401300" y="52197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8" name="kicker-Zukunftszustand-marker">
            <a:extLst xmlns:a="http://schemas.openxmlformats.org/drawingml/2006/main">
              <a:ext uri="{FF2B5EF4-FFF2-40B4-BE49-F238E27FC236}">
                <a16:creationId xmlns:a16="http://schemas.microsoft.com/office/drawing/2014/main" id="{5C3A93D9-6834-4201-AC53-B051D461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Zukunftszustand-label">
            <a:extLst xmlns:a="http://schemas.openxmlformats.org/drawingml/2006/main">
              <a:ext uri="{FF2B5EF4-FFF2-40B4-BE49-F238E27FC236}">
                <a16:creationId xmlns:a16="http://schemas.microsoft.com/office/drawing/2014/main" id="{25A20C47-253B-4D1B-9B9A-E432DC0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ZUKUNFTSZUSTAND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98523-5A7F-4BB0-8B12-BC8E387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Die Reise geht vom Abhaken zum gemeinsamen Rhythmus.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89945-605D-49D0-A037-E0EFC1C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Wenn Routine Stars die vorhandene Basis intelligent orchestriert, wird die App taeglicher Begleiter fuer Kinder und Entscheidungswerkzeug fuer Eltern.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49E1B-3073-4B61-88AE-FF67A4F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0866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3445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AAA59-E0CA-4E01-B9A5-9192DCD6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Produkthebel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218C4-3A45-42C1-BF28-9E2BB1A2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Familienwirkung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65E58-147F-42C0-8BAB-4FD469FD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Business-Option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5CAF7-4FF7-4B99-A65D-9FB17714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0843C-CBBF-47FC-AE29-16D6C2C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Smart Coach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748A0-3BB8-4447-AB62-F3150ED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weniger Setup-Reibung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7F552-8866-49CA-BBEF-14EBE1E0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hoehere Aktivierung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18279-5671-4A12-94C1-92A71DE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3FFB5-4EC2-4314-B3B6-8623BDE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Quest Worlds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B382A-D801-4719-8E40-CDB2C9C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mehr Wiederkehr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8C1EA-5D7A-40B8-89E4-112CD88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Premium Content Packs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868B3-FD2D-44F5-836F-75A3891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6FC10-E9DD-45BD-9B45-F98BB11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Parent Center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EC349-6912-4BBC-B25E-0A7DFCEE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mehr Vertrauen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028AB-88A5-4BC4-9466-578A4BB7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familienweite Nutzung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B2965-BC7A-4B6B-B980-FEDF989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4A90C-E3B5-4FC9-9746-4380C78C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3F6A5-0348-4083-A728-DBF95D0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768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richtiger Moment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D8F5D-997F-4740-8406-E1C3C589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Plattformfaehigkeit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E58A6-1E58-4335-9E15-8790F3C1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343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9525">
            <a:solidFill>
              <a:srgbClr val="315B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2AC6E-E245-40F2-9177-AD92ED72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166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FFD166"/>
                </a:solidFill>
                <a:latin typeface="Poppins"/>
                <a:ea typeface="Poppins"/>
                <a:cs typeface="Poppins"/>
              </a:rPr>
              <a:t>North Star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2F4833-EA3F-464A-B883-A9F1FD6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90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Routinen fuehlen sich erreichbar an, Eltern fuehlen sich entlastet.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328E9-86A0-432A-9A74-F5D5BA3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750" b="0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Routine Stars Feature Vision | Repo-basierte Produktanalyse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C3FAC-BCDE-4B67-861D-F849C15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E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DDEEFF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4022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2026-06-05T14:34:30.4690000Z</dcterms:created>
  <dcterms:modified xsi:type="dcterms:W3CDTF">2026-06-05T14:34:30.4690000Z</dcterms:modified>
</coreProperties>
</file>